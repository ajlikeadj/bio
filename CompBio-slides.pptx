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jlikeadj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26BTB1001T  |  BIOTECHNOLOGY  |  L2 T0 P0 C2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to Computational Biology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06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answer guide: what to write for 2, 4, 5, 12 and 13 mark questions. Full notes are in the Word and PDF files.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map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109728" cy="640080"/>
          </a:xfrm>
          <a:prstGeom prst="rect">
            <a:avLst/>
          </a:prstGeom>
          <a:solidFill>
            <a:srgbClr val="C65A3A"/>
          </a:solidFill>
          <a:ln w="12700">
            <a:solidFill>
              <a:srgbClr val="C65A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554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 CLA-1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5544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Basics and Computing Analogies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31520" y="2423160"/>
            <a:ext cx="109728" cy="640080"/>
          </a:xfrm>
          <a:prstGeom prst="rect">
            <a:avLst/>
          </a:prstGeom>
          <a:solidFill>
            <a:srgbClr val="6F8A6B"/>
          </a:solidFill>
          <a:ln w="12700">
            <a:solidFill>
              <a:srgbClr val="6F8A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423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  CLA-1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4231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Biomolecules as Data Structures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31520" y="3291840"/>
            <a:ext cx="109728" cy="640080"/>
          </a:xfrm>
          <a:prstGeom prst="rect">
            <a:avLst/>
          </a:prstGeom>
          <a:solidFill>
            <a:srgbClr val="A8873F"/>
          </a:solidFill>
          <a:ln w="12700">
            <a:solidFill>
              <a:srgbClr val="A887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  CLA-2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32918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Structures and Prediction Algorithms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9728" cy="640080"/>
          </a:xfrm>
          <a:prstGeom prst="rect">
            <a:avLst/>
          </a:prstGeom>
          <a:solidFill>
            <a:srgbClr val="5F7BA3"/>
          </a:solidFill>
          <a:ln w="12700">
            <a:solidFill>
              <a:srgbClr val="5F7BA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4160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  CLA-2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41605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Foundations in Biology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31520" y="5029200"/>
            <a:ext cx="109728" cy="640080"/>
          </a:xfrm>
          <a:prstGeom prst="rect">
            <a:avLst/>
          </a:prstGeom>
          <a:solidFill>
            <a:srgbClr val="8F5F7D"/>
          </a:solidFill>
          <a:ln w="12700">
            <a:solidFill>
              <a:srgbClr val="8F5F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5029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  CLA-2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50292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Learning, Healthcare and Ethics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65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OF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Basics and Computing Analogies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cell is the smallest working unit of life. Here we compare it to things you already know from computing.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S1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theory and the differences between prokaryotic/eukaryotic organisms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theory states that all living things are made of cells, the cell is the basic unit of life, and every cell arises from a pre-existing cell.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1.1 Biology as one of the fields of science; Testing the hypothesis rigorously by gathering new data; 1.2 Cell: basic unit of life; Multicellular organisms possess developing properties.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S1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theory and the differences between prokaryotic/eukaryotic organisms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Biology as one of the fields of science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the hypothesis rigorously by gathering new data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Cell: basic unit of life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Multicellular organisms possess developing properties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State the three postulates of cell theory.   5m: Differentiate prokaryotic and eukaryotic cells (any five points).   12m: Explain cell theory and describe the structure of prokaryotic and eukaryotic cells with neat diagrams.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S2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Organelles as CPU components analogy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Organelles are specialised structures inside a cell, each with a job: the nucleus acts like the CPU, mitochondria like the power supply and ribosomes like assembly workers.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1.3 Cell structure and function; Cell/plasma membrane; Nucleus and Nucleolus; Cytoskeleton; Golgi apparatus/bodies.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S2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Organelles as CPU components analogy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Cell structure and function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Cell/plasma membrane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Nucleus and Nucleolus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Cytoskeleton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Golgi apparatus/bodies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State the function of mitochondria.   5m: Compare the cell with a CPU using any five organelles.   12m: Describe the structure and functions of the major cell organelles with a labelled diagram and computing analogies.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S3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DNA replication compared to code duplication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Genetic information is in the chromosomes found in the nucleus.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1.4 Genetic information and protein synthesis; Pentosugar; Nitrogenous base; Phosphate.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S3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DNA replication compared to code duplication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Genetic information and protein synthesis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Pentosugar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Nitrogenous base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Phosphate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is semi-conservative replication?   5m: List the enzymes in DNA replication and their roles.   12m: Explain how genetic information is stored and copied, and compare DNA replication with code duplication.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S4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division as a concept of parallel computing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 is cell division that produces two genetically identical daughter cells from one parent cell, for growth and repair.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1.8 Cell growth and reproduction; Eukaryotic Cell Division; Interphase and the control of cell division; Reproductive signal; Replication of genetic material; Segregation of DNA.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S4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division as a concept of parallel computing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Cell growth and reproduction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Eukaryotic Cell Division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Interphase and the control of cell division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Reproductive signal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Replication of genetic material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6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Segregation of DNA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6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Cytokinesis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6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6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Metaphase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6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Anaphase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Define mitosis.   5m: Differentiate mitosis and meiosis.   12m: Explain the cell cycle and the phases of mitosis and meiosis; relate cell division to parallel computing.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S5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Genetic algorithms for biological optimization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genetic algorithm searches for good solutions by evolving a population of candidates through fitness-based selection, crossover and mutation.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Definition; Key features or structure; Process or mechanism; Examples; Applications; Limitations.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S5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Genetic algorithms for biological optimization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or structure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or mechanism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Define fitness function in a genetic algorithm.   5m: Explain selection, crossover and mutation.   12m: Explain a genetic algorithm with a flowchart and a biological optimisation example.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S6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Evolutionary computing in cell/tissue modelling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Evolutionary computing is a family of search methods, such as genetic algorithms, that imitate natural evolution to solve optimisation problems.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Definition; Key features or structure; Process or mechanism; Examples; Applications; Limitations.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S6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Evolutionary computing in cell/tissue modelling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or structure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or mechanism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is evolutionary computing?   5m: Give three uses of evolutionary computing in cell and tissue modelling.   12m: Discuss evolutionary computing and agent-based modelling of cells and tissues, with limitations.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EXTRA 1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structure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are the most abundant organic molecules of the living system.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1.5 Protein structgre; Forces influencing protein structure; Hydrogen bonds; Hydrophobic interactions; Van der Waals interactions; B-helix.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EXTRA 1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structure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Protein structgre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Forces influencing protein structure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Hydrogen bonds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Hydrophobic interactions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der Waals interactions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B-helix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functions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EXTRA 2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metabolism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two broad categories based on energy sources mainly, phototrophs (‘“trophs” means nourishment) trap and use sunlight, and chemotrophs derive their energy from oxidation of nutrients.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1.6 Cell metabolism; An overview of Fatty Acid Metabolism; Amino acid metabolism; Amino acid biosynthesis; Fatty Acid Metabolism.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EXTRA 2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metabolism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 Cell metabolism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overview of Fatty Acid Metabolism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 metabolism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 biosynthesis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Fatty Acid Metabolism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EXTRA 3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Homeostasis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Maintaining a constant internal enyironment with all that the cells need to survive (O,, glucose, minerals, ions, and waste remoyal) is necessary for individual cells.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1.7 Homeostasis; Extrinsic homeostatic system; Intrinsic homeostatic system; Nervous System; Endocrine System.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EXTRA 3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Homeostasis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 Homeostasis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Extrinsic homeostatic system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Intrinsic homeostatic system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Nervous System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Endocrine System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EXTRA 4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differentiation and chapter highlights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] Differentiation is the biological process whereby an unspecialized cell acquires the properties of a specialized cell (e,g., stem cells as described in chapter 2).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1.9 CELL DIFFERENTIATION; Chapter highlights; Genomic equivalence.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1  |  EXTRA 4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differentiation and chapter highlights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65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 CELL DIFFERENTIATION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highlights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Genomic equivalence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6F8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OF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Biomolecules as Data Structures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is built from four main molecule classes. We treat them as storage, structure and information formats.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 |  S1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Carbohydrates/lipids as energy and membrane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Carbohydrates are naturally occurring organic compounds composed primarily of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Introduction; Why Does a Cell Need Energy?; Carbohydrates; Biological Importance- Carbohydrates; Classification; Journey of a Carbohydrate in the human body.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 |  S1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Carbohydrates/lipids as energy and membrane storage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 Cell Need Energy?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Carbohydrates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Biological Importance- Carbohydrates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Journey of a Carbohydrate in the human body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ATP—The Universal Energy Currency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Glycogen: Nature's Cache Memory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Lipids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Are Lipids Better Energy Stores?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 of Lipids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of Lipids- 4 types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Define carbohydrates. What is a glycosidic bond?   5m: Classify carbohydrates with examples.   12m: Explain carbohydrates and lipids as energy and membrane storage molecules, with classification, types and functions.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 |  S2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Proteins/nucleic acids as functional data structures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are the most versatile biomolecules found in living organisms.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Proteins – The Functional Machines of the Cell; Characteristics of Proteins; Functions of Proteins; 2. Structural Support; 4. Communication; 5. Defense.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 |  S2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Proteins/nucleic acids as functional data structures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Proteins – The Functional Machines of the Cell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 of Proteins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of Proteins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Structural Support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Communication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Defense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Nucleic Acids – The Information Storage Molecules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DNA – The Biological Database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strand contains four nitrogenous bases: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Central Dogma of Molecular Biology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RNA – The Information Messenger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of Nucleic Acids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Nucleic Acids as Functional Data Structures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State the central dogma.   5m: Write short notes on DNA structure and the types of RNA.   12m: Explain proteins and nucleic acids as functional data structures, with structure, functions and engineering analogies.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 |  S3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Enzymes as biological catalysts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Enzymes are biological molecules, primarily proteins, that catalyze biochemical reactions occurring within living organisms.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Characteristics of Enzymes; Why are Enzymes Called Biological Catalysts?; Structure of an Enzyme; Mechanism of Enzyme Action; Enzyme Classes; Applications of Enzymes.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 |  S3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Enzymes as biological catalysts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Characteristics of Enzymes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are Enzymes Called Biological Catalysts?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of an Enzyme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 of Enzyme Action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Enzyme Classes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of Enzymes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Define an enzyme.   5m: Explain the mechanism of enzyme action.   12m: Describe enzyme structure, characteristics, mechanism of action, classes and applications.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 |  S4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Nucleic acid structure-function relationships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concept is known as the structure–function relationship.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What is a Structure–Function Relationship?; Comparison.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 |  S4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Nucleic acid structure-function relationships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Structure–Function Relationship?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2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State one structure-function relationship of DNA.   5m: Compare DNA and RNA.   12m: Explain how the structure of DNA and RNA determines their functions.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 |  S5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tool for sequence database queries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stands for Basic Local Alignment Search Tool.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BLAST; Significance of BLAST; BLAST workflow; BLAST Metrics; Types of Blast Program; Video demo of BLAST.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 |  S5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tool for sequence database queries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 of BLAST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workflow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BLAST Metrics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of Blast Program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demo of BLAST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does the E-value mean in BLAST?   5m: Explain the BLAST workflow.   12m: Describe BLAST, its significance, workflow, output metrics and types of BLAST programs.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 |  S6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Genome Project as big data genomics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genome is the complete collection of genetic material present in an organism.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What is the Human Genome?; What is the Human Genome Project?; Objectives of the Human Genome Project; Applications of the Human Genome Project.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2  |  S6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Genome Project as big data genomics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Human Genome?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Human Genome Project?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 of the Human Genome Project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of the Human Genome Project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6F8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is the Human Genome Project?   5m: List the objectives of the Human Genome Project.   12m: Explain the Human Genome Project, its objectives and applications, and its role in big data genomics.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A88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OF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Structures and Prediction Algorithms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sequence becomes a shape, and how computers predict that shape.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 |  S1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synthesis and primary structure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Transcription is the process of producing an RNA molecule using DNA as a template.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Protein Synthesis: From Code to Protein; Two major processes:; Transcription: DNA → mRNA; What is mRNA?; Pre-mRNA Formation; Pre-mRNA Processing.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 |  S1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synthesis and primary structure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Synthesis: From Code to Protein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major processes: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Transcription: DNA → mRNA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mRNA?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Pre-mRNA Formation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Pre-mRNA Processing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RNA Splicing: Introns and Exons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Mature mRNA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Translation: mRNA → Protein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Ribosome Structure and Function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Ribosomal A, P and E Sites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Codons: Reading the Genetic Code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of tRNA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Translation Process : Initiation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Define transcription.   5m: Explain pre-mRNA processing.   12m: Describe protein synthesis (transcription and translation) and primary structure.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 |  S2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Secondary/tertiary/quaternary organisation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structure describes the local folding patterns of the polypeptide backbone.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α-helix; β-sheet; Turns and Loops; Tertiary Structure; Factors Stabilising Tertiary Structure; Protein Domain.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 |  S2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Secondary/tertiary/quaternary organisation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α-helix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β-sheet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and Loops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Tertiary Structure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Factors Stabilising Tertiary Structure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Domain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Quaternary Structure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Hemoglobin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is a protein domain?   5m: Differentiate the alpha-helix and the beta-sheet.   12m: Explain secondary, tertiary and quaternary structure with examples and stabilising forces.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 |  S3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PyMOL for 3D protein visualisation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PyMOL is a molecular visualization software used to view biological molecules in three dimensions.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Why Visualize Proteins?; From Protein Data to 3D Structure; SOURCE OF 3D structures; Protein Structure in PyMOL; Cartoon – Overall Protein Structure; Sticks – Atoms and Bonds.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 |  S3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PyMOL for 3D protein visualisation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Visualize Proteins?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Protein Data to 3D Structure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OF 3D structures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Structure in PyMOL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Cartoon – Overall Protein Structure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6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Sticks – Atoms and Bonds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6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Spheres – Individual Atoms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6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 – Outer Molecular Shape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6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tools for molecular visualizations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6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DIY- Explore a protein in a molecular visualization tool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is PyMOL?   5m: Describe the display styles in PyMOL.   12m: Explain how protein structures are obtained and visualised in PyMOL.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 |  S4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structure prediction methods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structure prediction estimates, from the amino acid sequence alone, whether each residue forms an alpha-helix, a beta-sheet or a coil.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Secondary Structure Prediction; What Does a Prediction Tell Us?; Basic Principle of Prediction; What are Sequence-Based Methods?; Examples of Sequence-Based Methods; What are Homology-Based Methods?.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 |  S4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structure prediction methods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Structure Prediction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a Prediction Tell Us?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Principle of Prediction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Sequence-Based Methods?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of Sequence-Based Methods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Homology-Based Methods?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of Homology-Based Approaches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Hybrid Methods?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 of Hybrid Predictors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DIY- Predict secondary structure of the proteins using NETSURFP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7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We Know if a Prediction is Good?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is secondary structure prediction?   5m: Explain sequence-based, homology-based and hybrid methods.   12m: Describe the methods of secondary structure prediction and how accuracy is judged.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 |  S5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programming for structure analysis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Biopython is an open-source Python library designed for working with biological data.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Important Biopython Modules for Structural Analysis; Biopython IDE- example program; Protein; Number of chains; Chain IDs.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 |  S5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programming for structure analysis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Biopython Modules for Structural Analysis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Biopython IDE- example program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chains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IDs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is Biopython?   5m: List important Biopython modules and their uses.   12m: Explain Python programming for structure analysis with an example program.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 |  S6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Basics for drug design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Drug design is the process of discovering and developing molecules that can interact with a specific biological target to produce a desired therapeutic effect.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Introduction to Drug Design; Drug Targets and Drug–Target Interactions; Approaches and Computational Methods; From Drug Candidate to Drug.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3  |  S6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Basics for drug design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to Drug Design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Drug Targets and Drug–Target Interactions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Approaches and Computational Methods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Drug Candidate to Drug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887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Define a drug target.   5m: Explain the approaches of computational drug design.   12m: Describe the basics of drug design, from target to approved drug.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5F7BA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OF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Foundations in Biology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the machine learning basics needed to work with biological data.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 |  S1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AI for biological big data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Artificial Intelligence (AI) refers to computer systems capable of performing tasks that involve learning, pattern recognition, prediction and decision-making.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Introduction to AI in Biology; Why Does Biology Need AI?; What is Biological Big Data?; AI, ML and Deep Learning; AI is used across multiple biological disciplines.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 |  S1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AI for biological big data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to AI in Biology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Biology Need AI?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Biological Big Data?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AI, ML and Deep Learning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used across multiple biological disciplines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Define biological big data.   5m: Differentiate AI, ML and deep learning.   12m: Explain the role of AI in biological big data with examples.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 |  S2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Supervised and unsupervised learning basics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biological applications, supervised and unsupervised learning are especially important.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What is Machine Learning?; MACHINE LEARNING FOUNDATIONS; Supervised Learning; Classification and Regression; What is Classification?; Multiclass classification.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 |  S2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Supervised and unsupervised learning basics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Machine Learning?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 FOUNDATIONS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Supervised Learning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and Regression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Classification?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Multiclass classification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Classification Algorithms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Regression?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Suppose we want to predict a person's blood glucose level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vs Regression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Unsupervised Learning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Clustering in Biology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8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Idea of Clustering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Define supervised learning.   5m: Differentiate classification and regression.   12m: Explain supervised and unsupervised learning, with k-means and hierarchical clustering.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 |  S3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representations for sequences and omics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representation means converting biological data into a form that a machine-learning algorithm can understand and process.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Feature Representation; Representing DNA and RNA Sequences; B. k-mer representation; C. Representing Protein Sequences; What is Omics Data?.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 |  S3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representations for sequences and omics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Representation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Representing DNA and RNA Sequences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k-mer representation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Representing Protein Sequences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Omics Data?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is one-hot encoding?   5m: Explain k-mer representation.   12m: Explain feature representation for DNA, RNA, proteins and omics data.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 |  S4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data pipeline: preprocess, train, evaluate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 is the process of cleaning and preparing raw biological data before using it for machine learning.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Data Pipeline – Overview; Data Preprocessing; Feature Representation and Data Splitting; Step 3 – Model Training; Step 4 – Model Evaluation; Step 5: Prediction.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 |  S4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data pipeline: preprocess, train, evaluate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Pipeline – Overview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Preprocessing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Representation and Data Splitting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– Model Training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– Model Evaluation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4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5: Prediction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is data preprocessing?   5m: Write the steps in an AI data pipeline.   12m: Explain the AI data pipeline with the diabetes-prediction example.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 |  S5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in genomics and systems biology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genomics AI identifies genes and variants and analyses gene expression; in systems biology it models how many components of a cell interact.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AI in Genomics; AI for Gene and Variant Analysis; AI for Gene Expression Analysis; Systems Biology.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 |  S5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in genomics and systems biology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 Genomics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for Gene and Variant Analysis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for Gene Expression Analysis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Biology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Name two AI applications in genomics.   5m: Explain AI in gene expression analysis.   12m: Explain AI applications in genomics and systems biology.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 |  S6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and limitations of AI in biology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 biology offers speed and pattern discovery, but it is limited by data bias, overfitting, poor explainability and the need for lab validation.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Benefits of AI in Biology; Limitations of AI in Biology; Overfitting; Common causes OF Overfitting.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4  |  S6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and limitations of AI in biology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of AI in Biology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of AI in Biology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Overfitting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3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causes OF Overfitting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5F7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is overfitting?   5m: List the benefits and limitations of AI in biology.   12m: Discuss the benefits, limitations and overfitting problem of AI in biology.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8F5F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OF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Learning, Healthcare and Ethics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97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in medicine, and the responsibilities that come with them.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 |  S1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 for images, signals and sequences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 is a branch of machine learning that uses neural networks with multiple layers to learn increasingly complex representations from data.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Core Idea; Neurons and layers; Deep Learning for Biological Images; Convolutional Neural Networks; Deep Learning for Biological Signals; Transformers and Attention in Biology.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 |  S1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 for images, signals and sequences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Idea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Neurons and layers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 for Biological Images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Convolutional Neural Networks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 for Biological Signals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Transformers and Attention in Biology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Deep Models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 and Challenges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is deep learning?   5m: Explain convolutional neural networks.   12m: Explain deep learning for images, signals and sequences, including training, strengths and challenges.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 |  S2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 drug discovery and biotechnology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speeds up drug discovery by predicting protein structures, screening millions of compounds virtually and designing new molecules.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Definition; Key features or structure; Process or mechanism; Examples; Applications; Limitations.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 |  S2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 drug discovery and biotechnology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or structure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or mechanism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Name two uses of AI in drug discovery.   5m: Explain virtual screening.   12m: Discuss the role of AI in drug discovery and biotechnology.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 |  S3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AI-assisted medical diagnostics and imaging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AI-assisted diagnostics uses deep learning to read medical images such as X-rays, CT and MRI, to detect disease and support the doctor's decision.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Definition; Key features or structure; Process or mechanism; Examples; Applications; Limitations.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 |  S3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AI-assisted medical diagnostics and imaging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or structure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or mechanism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Define sensitivity and specificity.   5m: Explain AI in medical imaging.   12m: Discuss AI-assisted diagnostics and imaging, with benefits and challenges.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 |  S4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for integrated bioinformatics and health data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health data combines records, genomes, images and wearable data so that AI can support precision medicine.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Definition; Key features or structure; Process or mechanism; Examples; Applications; Limitations.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 |  S4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for integrated bioinformatics and health data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or structure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or mechanism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is federated learning?   5m: Explain integration of health data for precision medicine.   12m: Discuss AI for integrated bioinformatics and health data.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 |  S5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AI for monitoring and decision support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AI analyses streaming sensor data to flag dangerous changes in a patient at once and support quick clinical decisions.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Definition; Key features or structure; Process or mechanism; Examples; Applications; Limitations.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 |  S5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AI for monitoring and decision support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or structure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or mechanism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What is alarm fatigue?   5m: Explain real-time AI monitoring.   12m: Discuss real-time AI for monitoring and decision support.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 |  S6  |  ANSWER GUIDE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and social issues of AI in biology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MARKS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main ethical issues of medical AI are patient privacy and consent, bias and fairness, accountability, transparency and equal access.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TO 5 MARKS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25196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definition, then any 4 or 5 of these points, one line each: Definition; Key features or structure; Process or mechanism; Examples; Applications; Limitations.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5  |  S6  |  12 TO 13 MARKS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and social issues of AI in biology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in this order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or structure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or mechanism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10312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5"/>
            </a:pPr>
            <a:r>
              <a:rPr lang="en-US" sz="13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with a labelled diagram or table, one real example, one application and a one-line conclusion.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8F5F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 </a:t>
            </a:r>
            <a:pPr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2m: Name two ethical issues in medical AI.   5m: Explain bias and fairness in medical AI.   12m: Discuss the ethical and social issues of AI in biology.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4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CLA-1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I and II: cell basics and biomolecules.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1B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CLA-2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III to V: protein structure, AI/ML foundations, deep learning and healthcare.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046720" y="6446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by </a:t>
            </a:r>
            <a:pPr algn="r" indent="0" marL="0">
              <a:buNone/>
            </a:pPr>
            <a:r>
              <a:rPr lang="en-US" sz="1100" b="1" u="sng" dirty="0">
                <a:solidFill>
                  <a:srgbClr val="1A56C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github.com/ajlikeadj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Ajlikeadj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Ajlikeadj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Computational Biology</dc:title>
  <dc:subject>Made by Ajlikeadj - https://github.com/ajlikeadj</dc:subject>
  <dc:creator>Ajlikeadj</dc:creator>
  <cp:lastModifiedBy>Ajlikeadj</cp:lastModifiedBy>
  <cp:revision>1</cp:revision>
  <dcterms:created xsi:type="dcterms:W3CDTF">2026-10-23T08:37:36Z</dcterms:created>
  <dcterms:modified xsi:type="dcterms:W3CDTF">2026-10-23T08:37:36Z</dcterms:modified>
</cp:coreProperties>
</file>